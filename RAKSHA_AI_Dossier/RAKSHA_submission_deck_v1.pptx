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RAKSHA AI - Reasoning-based Autonomous Knowledge and Security Hardening Agent. EME School, Vadodara. Fully offline cyber reasoning system for Indian Armed Forces air-gapped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stages across three phases. Track B non-crash bugs enter at stage 2 via installed property probes and rejoin the same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oracle layer is the key idea: non-crashing vulnerabilities get a runtime invariant injected at the sink, so they abort like memory bugs and reuse the whole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USP in one line: runs where classified code lives, and refuses to speak without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PoC: ingest an unseen repo with no harness on an offline box, run the full loop live, and demonstrate the gate rejecting an overfitting 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RAKSHA AI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Reasoning-based Autonomous Knowledge &amp; Security Hardening Agent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607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autonomous cyber reasoning — find, fix, prove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464040" y="256032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25603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KAVACH · CRS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731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 School, Vadodara  ·  Indian Army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81328"/>
            <a:ext cx="2624328" cy="1133856"/>
          </a:xfrm>
          <a:prstGeom prst="roundRect">
            <a:avLst>
              <a:gd name="adj" fmla="val 7258"/>
            </a:avLst>
          </a:prstGeom>
          <a:solidFill>
            <a:srgbClr val="F3F6F9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76656" y="15179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5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066544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frontier-agent patch rate on SEC-bench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74136" y="1481328"/>
            <a:ext cx="2624328" cy="1133856"/>
          </a:xfrm>
          <a:prstGeom prst="roundRect">
            <a:avLst>
              <a:gd name="adj" fmla="val 7258"/>
            </a:avLst>
          </a:prstGeom>
          <a:solidFill>
            <a:srgbClr val="F3F6F9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02152" y="15179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5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066544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frontier-agent PoC generation rate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99632" y="1481328"/>
            <a:ext cx="2624328" cy="1133856"/>
          </a:xfrm>
          <a:prstGeom prst="roundRect">
            <a:avLst>
              <a:gd name="adj" fmla="val 7258"/>
            </a:avLst>
          </a:prstGeom>
          <a:solidFill>
            <a:srgbClr val="F3F6F9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27648" y="15179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5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$152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2066544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cloud cost per task at DARPA AIxCC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25128" y="1481328"/>
            <a:ext cx="2624328" cy="1133856"/>
          </a:xfrm>
          <a:prstGeom prst="roundRect">
            <a:avLst>
              <a:gd name="adj" fmla="val 7258"/>
            </a:avLst>
          </a:prstGeom>
          <a:solidFill>
            <a:srgbClr val="F3F6F9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53144" y="15179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171432" y="2066544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of source code leaving the perimeter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798064"/>
            <a:ext cx="5532120" cy="3035808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798064"/>
            <a:ext cx="5532120" cy="457200"/>
          </a:xfrm>
          <a:prstGeom prst="roundRect">
            <a:avLst>
              <a:gd name="adj" fmla="val 18000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27980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438144"/>
            <a:ext cx="256032" cy="256032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" y="33832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Deployability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" y="362102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Forces code lives on air-gapped networks. Every existing cyber reasoning system depends on foreign cloud LLM APIs and cannot be fielded there.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4261104"/>
            <a:ext cx="256032" cy="256032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261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" y="42062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Abandonware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" y="444398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DARPA AIxCC systems were open-sourced, yet remain bound to competition cloud infrastructure that no longer exists.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5084064"/>
            <a:ext cx="256032" cy="256032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084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" y="50292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Unproven noise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" y="526694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scanners flood reviewers with findings that have no reproducer. curl shut its bug bounty after AI submissions overwhelmed maintainers.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2798064"/>
            <a:ext cx="5349240" cy="3035808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55080" y="2798064"/>
            <a:ext cx="5349240" cy="457200"/>
          </a:xfrm>
          <a:prstGeom prst="roundRect">
            <a:avLst>
              <a:gd name="adj" fmla="val 18000"/>
            </a:avLst>
          </a:prstGeom>
          <a:solidFill>
            <a:srgbClr val="E1EDEC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0" y="2798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0" y="3438144"/>
            <a:ext cx="256032" cy="256032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940296" y="3383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box, fully offline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940296" y="3621024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8B models at Q8 on 32 GB VRAM. No API key, no egress, no foreign dependency.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0" y="4261104"/>
            <a:ext cx="256032" cy="256032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83680" y="4261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940296" y="4206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is the brain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940296" y="4443984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decides what is true. Sanitizers, taint tracking and differential testing decide; the LLM only proposes.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83680" y="5084064"/>
            <a:ext cx="256032" cy="256032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83680" y="5084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940296" y="5029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proof, no report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940296" y="5266944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ships with an executable reproducer and every patch with a five-check evidence bundle.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601675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 ·  Frontier models lose two-thirds of the time on this task. The losses are in the scaffold, not the parameter count — so a small offline model with a strict verifier is not a compromise, it is the design.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methodology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stages, one pipeline. Deterministic tools do the deciding; the 8B model only proposes.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822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 School, Vadodara  ·  Indian Army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104120" y="38404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04120" y="384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KAVACH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3639312" cy="3602736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98448"/>
            <a:ext cx="3639312" cy="475488"/>
          </a:xfrm>
          <a:prstGeom prst="roundRect">
            <a:avLst>
              <a:gd name="adj" fmla="val 17308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2984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2984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1–3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49808" y="1920240"/>
            <a:ext cx="274320" cy="2743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1901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instrument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185416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dependency cache, toolchain repair, ASan / UBSan / MSan compiled in.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9808" y="2926080"/>
            <a:ext cx="274320" cy="2743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2907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oracles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191256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DFSan taint policy, six LLM-authored property probes, metamorphic principal pairs.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9808" y="3931920"/>
            <a:ext cx="274320" cy="2743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3913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4197096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AFL++ ∥ Semgrep, CodeQL, Joern ∥ replay. Synthesised harnesses pass a five-gate check.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15968" y="1298448"/>
            <a:ext cx="3639312" cy="3602736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15968" y="1298448"/>
            <a:ext cx="3639312" cy="475488"/>
          </a:xfrm>
          <a:prstGeom prst="roundRect">
            <a:avLst>
              <a:gd name="adj" fmla="val 17308"/>
            </a:avLst>
          </a:prstGeom>
          <a:solidFill>
            <a:srgbClr val="E1EDEC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17136" y="12984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19088" y="12984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4–6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17136" y="1920240"/>
            <a:ext cx="274320" cy="27432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17136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82896" y="1901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882896" y="2185416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Stack-hash dedup, afl-tmin minimisation, exploitability ranking. 800 crashes become 6 bugs.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17136" y="2926080"/>
            <a:ext cx="274320" cy="27432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17136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882896" y="2907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882896" y="3191256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Sanitizer trace gives the line; tree-sitter slices one function. The LLM never guesses location.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17136" y="3931920"/>
            <a:ext cx="274320" cy="27432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17136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882896" y="3913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882896" y="4197096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lanes: fix template → RAG on ARVO pairs → best-of-16 sampling → mitigation floor.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83296" y="1298448"/>
            <a:ext cx="3639312" cy="3602736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83296" y="1298448"/>
            <a:ext cx="3639312" cy="475488"/>
          </a:xfrm>
          <a:prstGeom prst="roundRect">
            <a:avLst>
              <a:gd name="adj" fmla="val 17308"/>
            </a:avLst>
          </a:prstGeom>
          <a:solidFill>
            <a:srgbClr val="FAEDE0"/>
          </a:solidFill>
          <a:ln w="12700">
            <a:solidFill>
              <a:srgbClr val="FAED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84464" y="12984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35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0186416" y="12984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3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7–9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284464" y="1920240"/>
            <a:ext cx="274320" cy="274320"/>
          </a:xfrm>
          <a:prstGeom prst="ellipse">
            <a:avLst/>
          </a:prstGeom>
          <a:solidFill>
            <a:srgbClr val="B35F14"/>
          </a:solidFill>
          <a:ln w="12700">
            <a:solidFill>
              <a:srgbClr val="B35F1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84464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650224" y="1901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650224" y="2185416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· PoV dead · differential corpus byte-identical · coverage held · clean re-fuzz.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284464" y="2926080"/>
            <a:ext cx="274320" cy="274320"/>
          </a:xfrm>
          <a:prstGeom prst="ellipse">
            <a:avLst/>
          </a:prstGeom>
          <a:solidFill>
            <a:srgbClr val="B35F14"/>
          </a:solidFill>
          <a:ln w="12700">
            <a:solidFill>
              <a:srgbClr val="B35F1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84464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650224" y="2907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8650224" y="3191256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evidence bundle: input hash, before and after traces, model and prompt version.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284464" y="3931920"/>
            <a:ext cx="274320" cy="274320"/>
          </a:xfrm>
          <a:prstGeom prst="ellipse">
            <a:avLst/>
          </a:prstGeom>
          <a:solidFill>
            <a:srgbClr val="B35F14"/>
          </a:solidFill>
          <a:ln w="12700">
            <a:solidFill>
              <a:srgbClr val="B35F1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84464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8650224" y="3913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650224" y="4197096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Corpus, mined templates, failure memory and nightly QLoRA fold back into the next run.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8640" y="5102352"/>
            <a:ext cx="11155680" cy="1225296"/>
          </a:xfrm>
          <a:prstGeom prst="roundRect">
            <a:avLst>
              <a:gd name="adj" fmla="val 6716"/>
            </a:avLst>
          </a:prstGeom>
          <a:solidFill>
            <a:srgbClr val="F3F6F9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777240" y="5193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LOOPS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777240" y="5449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8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validated fix makes the next run cheaper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160520" y="5248656"/>
            <a:ext cx="1773936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270248" y="5303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persistence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4270248" y="555955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afl-cmin minimised, carried across runs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044184" y="5248656"/>
            <a:ext cx="1773936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153912" y="5303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mining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6153912" y="555955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patches become zero-inference rules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927848" y="5248656"/>
            <a:ext cx="1773936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037576" y="5303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memory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8037576" y="555955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patches injected as negative examples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811512" y="5248656"/>
            <a:ext cx="1773936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921240" y="5303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QLoRA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9921240" y="555955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adapter retrained on-box during idle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technology stack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oracle layer converts every bug class into one abort event, then one pipeline and one gate.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822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 School, Vadodara  ·  Indian Army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104120" y="38404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04120" y="384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KAVACH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7040880" cy="4041648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426464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3F6F9"/>
          </a:solidFill>
          <a:ln w="12700">
            <a:solidFill>
              <a:srgbClr val="D6DF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4264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repository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69080" y="1737360"/>
            <a:ext cx="0" cy="146304"/>
          </a:xfrm>
          <a:prstGeom prst="line">
            <a:avLst/>
          </a:prstGeom>
          <a:noFill/>
          <a:ln w="15875">
            <a:solidFill>
              <a:srgbClr val="7C8A9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713232" y="18105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C8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LAYER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13232" y="2011680"/>
            <a:ext cx="2157984" cy="548640"/>
          </a:xfrm>
          <a:prstGeom prst="roundRect">
            <a:avLst>
              <a:gd name="adj" fmla="val 13333"/>
            </a:avLst>
          </a:prstGeom>
          <a:solidFill>
            <a:srgbClr val="E1EDEC"/>
          </a:solidFill>
          <a:ln w="12700">
            <a:solidFill>
              <a:srgbClr val="BBD5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206654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sanitizers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228600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 · UBSan · MSan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90088" y="2011680"/>
            <a:ext cx="2157984" cy="548640"/>
          </a:xfrm>
          <a:prstGeom prst="roundRect">
            <a:avLst>
              <a:gd name="adj" fmla="val 13333"/>
            </a:avLst>
          </a:prstGeom>
          <a:solidFill>
            <a:srgbClr val="E1EDEC"/>
          </a:solidFill>
          <a:ln w="12700">
            <a:solidFill>
              <a:srgbClr val="BBD5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35808" y="206654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sanitizer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035808" y="228600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DFSan + sink policy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266944" y="2011680"/>
            <a:ext cx="2157984" cy="548640"/>
          </a:xfrm>
          <a:prstGeom prst="roundRect">
            <a:avLst>
              <a:gd name="adj" fmla="val 13333"/>
            </a:avLst>
          </a:prstGeom>
          <a:solidFill>
            <a:srgbClr val="E1EDEC"/>
          </a:solidFill>
          <a:ln w="12700">
            <a:solidFill>
              <a:srgbClr val="BBD5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12664" y="206654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probes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312664" y="228600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 · crypto · injection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92224" y="2560320"/>
            <a:ext cx="0" cy="146304"/>
          </a:xfrm>
          <a:prstGeom prst="line">
            <a:avLst/>
          </a:prstGeom>
          <a:noFill/>
          <a:ln w="15875">
            <a:solidFill>
              <a:srgbClr val="7C8A9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069080" y="2560320"/>
            <a:ext cx="0" cy="146304"/>
          </a:xfrm>
          <a:prstGeom prst="line">
            <a:avLst/>
          </a:prstGeom>
          <a:noFill/>
          <a:ln w="15875">
            <a:solidFill>
              <a:srgbClr val="7C8A9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45936" y="2560320"/>
            <a:ext cx="0" cy="146304"/>
          </a:xfrm>
          <a:prstGeom prst="line">
            <a:avLst/>
          </a:prstGeom>
          <a:noFill/>
          <a:ln w="15875">
            <a:solidFill>
              <a:srgbClr val="7C8A9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3232" y="2743200"/>
            <a:ext cx="6711696" cy="384048"/>
          </a:xfrm>
          <a:prstGeom prst="roundRect">
            <a:avLst>
              <a:gd name="adj" fmla="val 19048"/>
            </a:avLst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2743200"/>
            <a:ext cx="6620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abort event  +  stack trace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69080" y="3127248"/>
            <a:ext cx="0" cy="146304"/>
          </a:xfrm>
          <a:prstGeom prst="line">
            <a:avLst/>
          </a:prstGeom>
          <a:noFill/>
          <a:ln w="15875">
            <a:solidFill>
              <a:srgbClr val="7C8A9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13232" y="329184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E6EDF4"/>
          </a:solidFill>
          <a:ln w="12700">
            <a:solidFill>
              <a:srgbClr val="C3D2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334670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3566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hash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23160" y="329184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E6EDF4"/>
          </a:solidFill>
          <a:ln w="12700">
            <a:solidFill>
              <a:srgbClr val="C3D2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468880" y="334670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468880" y="3566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afl-tmin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33088" y="329184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E6EDF4"/>
          </a:solidFill>
          <a:ln w="12700">
            <a:solidFill>
              <a:srgbClr val="C3D2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78808" y="334670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178808" y="3566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slice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43016" y="329184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E6EDF4"/>
          </a:solidFill>
          <a:ln w="12700">
            <a:solidFill>
              <a:srgbClr val="C3D2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88736" y="334670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888736" y="3566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→ LLM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86000" y="3566160"/>
            <a:ext cx="137160" cy="0"/>
          </a:xfrm>
          <a:prstGeom prst="line">
            <a:avLst/>
          </a:prstGeom>
          <a:noFill/>
          <a:ln w="15875">
            <a:solidFill>
              <a:srgbClr val="7C8A9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995928" y="3566160"/>
            <a:ext cx="137160" cy="0"/>
          </a:xfrm>
          <a:prstGeom prst="line">
            <a:avLst/>
          </a:prstGeom>
          <a:noFill/>
          <a:ln w="15875">
            <a:solidFill>
              <a:srgbClr val="7C8A9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705856" y="3566160"/>
            <a:ext cx="137160" cy="0"/>
          </a:xfrm>
          <a:prstGeom prst="line">
            <a:avLst/>
          </a:prstGeom>
          <a:noFill/>
          <a:ln w="15875">
            <a:solidFill>
              <a:srgbClr val="7C8A9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729984" y="3840480"/>
            <a:ext cx="0" cy="146304"/>
          </a:xfrm>
          <a:prstGeom prst="line">
            <a:avLst/>
          </a:prstGeom>
          <a:noFill/>
          <a:ln w="15875">
            <a:solidFill>
              <a:srgbClr val="7C8A9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13232" y="4005072"/>
            <a:ext cx="6711696" cy="475488"/>
          </a:xfrm>
          <a:prstGeom prst="roundRect">
            <a:avLst>
              <a:gd name="adj" fmla="val 15385"/>
            </a:avLst>
          </a:prstGeom>
          <a:solidFill>
            <a:srgbClr val="B35F14"/>
          </a:solidFill>
          <a:ln w="12700">
            <a:solidFill>
              <a:srgbClr val="B35F1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" y="4005072"/>
            <a:ext cx="6620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FIVE-CHECK GATE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58952" y="4480560"/>
            <a:ext cx="6620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· PoV dead · differential corpus · coverage held · clean re-fuzz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331720" y="4681728"/>
            <a:ext cx="0" cy="109728"/>
          </a:xfrm>
          <a:prstGeom prst="line">
            <a:avLst/>
          </a:prstGeom>
          <a:noFill/>
          <a:ln w="15875">
            <a:solidFill>
              <a:srgbClr val="7C8A9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806440" y="4681728"/>
            <a:ext cx="0" cy="109728"/>
          </a:xfrm>
          <a:prstGeom prst="line">
            <a:avLst/>
          </a:prstGeom>
          <a:noFill/>
          <a:ln w="15875">
            <a:solidFill>
              <a:srgbClr val="7C8A9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3232" y="4809744"/>
            <a:ext cx="3246120" cy="384048"/>
          </a:xfrm>
          <a:prstGeom prst="roundRect">
            <a:avLst>
              <a:gd name="adj" fmla="val 19048"/>
            </a:avLst>
          </a:prstGeom>
          <a:solidFill>
            <a:srgbClr val="E1EDEC"/>
          </a:solidFill>
          <a:ln w="12700">
            <a:solidFill>
              <a:srgbClr val="BBD5D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8952" y="480974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patch bundle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78808" y="4809744"/>
            <a:ext cx="3246120" cy="384048"/>
          </a:xfrm>
          <a:prstGeom prst="roundRect">
            <a:avLst>
              <a:gd name="adj" fmla="val 19048"/>
            </a:avLst>
          </a:prstGeom>
          <a:solidFill>
            <a:srgbClr val="F3F6F9"/>
          </a:solidFill>
          <a:ln w="12700">
            <a:solidFill>
              <a:srgbClr val="D6DFE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224528" y="480974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report only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882128" y="1298448"/>
            <a:ext cx="3840480" cy="4041648"/>
          </a:xfrm>
          <a:prstGeom prst="roundRect">
            <a:avLst>
              <a:gd name="adj" fmla="val 2143"/>
            </a:avLst>
          </a:prstGeom>
          <a:solidFill>
            <a:srgbClr val="F3F6F9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8092440" y="1389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092440" y="17556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8092440" y="194767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vLLM · Qwen3-Coder 8B Q8 · second 8B family · BGE-M3 embeddings · FAISS</a:t>
            </a:r>
            <a:endParaRPr lang="en-US" sz="780" dirty="0"/>
          </a:p>
        </p:txBody>
      </p:sp>
      <p:sp>
        <p:nvSpPr>
          <p:cNvPr id="56" name="Text 54"/>
          <p:cNvSpPr txBox="1"/>
          <p:nvPr/>
        </p:nvSpPr>
        <p:spPr>
          <a:xfrm>
            <a:off x="8092440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092440" y="2523744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AFL++ · libFuzzer · honggfuzz · ASan / UBSan / MSan · DFSan</a:t>
            </a:r>
            <a:endParaRPr lang="en-US" sz="780" dirty="0"/>
          </a:p>
        </p:txBody>
      </p:sp>
      <p:sp>
        <p:nvSpPr>
          <p:cNvPr id="58" name="Text 56"/>
          <p:cNvSpPr txBox="1"/>
          <p:nvPr/>
        </p:nvSpPr>
        <p:spPr>
          <a:xfrm>
            <a:off x="8092440" y="2907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8092440" y="309981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Semgrep · CodeQL · Joern CPG · tree-sitter AST splice</a:t>
            </a:r>
            <a:endParaRPr lang="en-US" sz="780" dirty="0"/>
          </a:p>
        </p:txBody>
      </p:sp>
      <p:sp>
        <p:nvSpPr>
          <p:cNvPr id="60" name="Text 58"/>
          <p:cNvSpPr txBox="1"/>
          <p:nvPr/>
        </p:nvSpPr>
        <p:spPr>
          <a:xfrm>
            <a:off x="8092440" y="34838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8092440" y="367588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· Redis queue · Docker Compose · git worktrees</a:t>
            </a:r>
            <a:endParaRPr lang="en-US" sz="780" dirty="0"/>
          </a:p>
        </p:txBody>
      </p:sp>
      <p:sp>
        <p:nvSpPr>
          <p:cNvPr id="62" name="Text 60"/>
          <p:cNvSpPr txBox="1"/>
          <p:nvPr/>
        </p:nvSpPr>
        <p:spPr>
          <a:xfrm>
            <a:off x="8092440" y="40599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8092440" y="425196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 6,100 bugs · SEC-bench · OSS-Fuzz-Gen · Fuzz Introspector</a:t>
            </a:r>
            <a:endParaRPr lang="en-US" sz="780" dirty="0"/>
          </a:p>
        </p:txBody>
      </p:sp>
      <p:sp>
        <p:nvSpPr>
          <p:cNvPr id="64" name="Text 62"/>
          <p:cNvSpPr txBox="1"/>
          <p:nvPr/>
        </p:nvSpPr>
        <p:spPr>
          <a:xfrm>
            <a:off x="8092440" y="46360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8092440" y="482803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OSS-CRS manifest (OpenSSF) · LiteLLM local endpoint · ensemble fallback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548640" y="5614416"/>
            <a:ext cx="11155680" cy="749808"/>
          </a:xfrm>
          <a:prstGeom prst="roundRect">
            <a:avLst>
              <a:gd name="adj" fmla="val 10976"/>
            </a:avLst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777240" y="561441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D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2240280" y="56875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GB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2240280" y="598017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VRAM, single node</a:t>
            </a:r>
            <a:endParaRPr lang="en-US" sz="850" dirty="0"/>
          </a:p>
        </p:txBody>
      </p:sp>
      <p:sp>
        <p:nvSpPr>
          <p:cNvPr id="70" name="Text 68"/>
          <p:cNvSpPr txBox="1"/>
          <p:nvPr/>
        </p:nvSpPr>
        <p:spPr>
          <a:xfrm>
            <a:off x="3813048" y="56875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8B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3813048" y="598017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Q8, concurrent</a:t>
            </a:r>
            <a:endParaRPr lang="en-US" sz="850" dirty="0"/>
          </a:p>
        </p:txBody>
      </p:sp>
      <p:sp>
        <p:nvSpPr>
          <p:cNvPr id="72" name="Text 70"/>
          <p:cNvSpPr txBox="1"/>
          <p:nvPr/>
        </p:nvSpPr>
        <p:spPr>
          <a:xfrm>
            <a:off x="5385816" y="56875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600" dirty="0"/>
          </a:p>
        </p:txBody>
      </p:sp>
      <p:sp>
        <p:nvSpPr>
          <p:cNvPr id="73" name="Text 71"/>
          <p:cNvSpPr txBox="1"/>
          <p:nvPr/>
        </p:nvSpPr>
        <p:spPr>
          <a:xfrm>
            <a:off x="5385816" y="598017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for fuzzing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6958584" y="56875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GB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6958584" y="598017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disk, offline cache</a:t>
            </a:r>
            <a:endParaRPr lang="en-US" sz="850" dirty="0"/>
          </a:p>
        </p:txBody>
      </p:sp>
      <p:sp>
        <p:nvSpPr>
          <p:cNvPr id="76" name="Text 74"/>
          <p:cNvSpPr txBox="1"/>
          <p:nvPr/>
        </p:nvSpPr>
        <p:spPr>
          <a:xfrm>
            <a:off x="8531352" y="56875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77" name="Text 75"/>
          <p:cNvSpPr txBox="1"/>
          <p:nvPr/>
        </p:nvSpPr>
        <p:spPr>
          <a:xfrm>
            <a:off x="8531352" y="598017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interfaces</a:t>
            </a:r>
            <a:endParaRPr 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10104120" y="56875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4B CPU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10104120" y="598017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profile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Salient features &amp; novelty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822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 School, Vadodara  ·  Indian Army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104120" y="38404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384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KAVACH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9264"/>
            <a:ext cx="11155680" cy="749808"/>
          </a:xfrm>
          <a:prstGeom prst="roundRect">
            <a:avLst>
              <a:gd name="adj" fmla="val 12195"/>
            </a:avLst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969264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D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969264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where classified code lives — and refuses to speak without proof.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6654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1EDEC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048256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installation, not discovery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404872"/>
            <a:ext cx="3273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Non-crashing bugs get a runtime invariant injected at the sink, so authz, injection and crypto flaws abort like memory bugs — and reuse the entire pipeline instead of needing a second one.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315968" y="1901952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98848" y="206654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1EDEC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98848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048256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corpus proof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17136" y="2404872"/>
            <a:ext cx="3273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non-crashing fuzz input must produce byte-identical output before and after the patch. This kills the overfitting fix that silently passes a thin test suite.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083296" y="1901952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66176" y="206654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1EDEC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66176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613648" y="2048256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Five-gate harness synthesis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84464" y="2404872"/>
            <a:ext cx="3273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· survives random input · reaches target · coverage still climbing · deterministic. Automates the validity check that OSS-Fuzz-Gen leaves to a human.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48640" y="3419856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5844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12700">
            <a:solidFill>
              <a:srgbClr val="FAED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356616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Verifier-centric small model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3922776"/>
            <a:ext cx="3273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agents score 34% on this task. The losses are in the scaffold, so we compete there — two 8B models in 32 GB, not a cloud cluster.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315968" y="3419856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98848" y="35844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12700">
            <a:solidFill>
              <a:srgbClr val="FAED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98848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356616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autonomy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17136" y="3922776"/>
            <a:ext cx="3273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validated patch means no patch. A verified vulnerability report is issued instead. Nothing unproven ever reaches a live military system.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8083296" y="3419856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66176" y="35844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12700">
            <a:solidFill>
              <a:srgbClr val="FAED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66176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613648" y="356616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compounding loops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284464" y="3922776"/>
            <a:ext cx="3273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Corpus, mined fix templates, failure memory and nightly on-box QLoRA. Run two is measurably faster than run one on identical input.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548640" y="5074920"/>
            <a:ext cx="11155680" cy="1261872"/>
          </a:xfrm>
          <a:prstGeom prst="roundRect">
            <a:avLst>
              <a:gd name="adj" fmla="val 6522"/>
            </a:avLst>
          </a:prstGeom>
          <a:solidFill>
            <a:srgbClr val="F3F6F9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777240" y="51572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OVER EXISTING APPROACHES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77240" y="54681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SAST dashboard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77240" y="572414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findings with no reproducer. Floods scarce cleared reviewers with unproven noise.</a:t>
            </a:r>
            <a:endParaRPr lang="en-US" sz="930" dirty="0"/>
          </a:p>
        </p:txBody>
      </p:sp>
      <p:sp>
        <p:nvSpPr>
          <p:cNvPr id="43" name="Text 41"/>
          <p:cNvSpPr txBox="1"/>
          <p:nvPr/>
        </p:nvSpPr>
        <p:spPr>
          <a:xfrm>
            <a:off x="4453128" y="54681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CRS fork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453128" y="572414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egress to a foreign API. Structurally undeployable on a classified network.</a:t>
            </a:r>
            <a:endParaRPr lang="en-US" sz="930" dirty="0"/>
          </a:p>
        </p:txBody>
      </p:sp>
      <p:sp>
        <p:nvSpPr>
          <p:cNvPr id="45" name="Text 43"/>
          <p:cNvSpPr txBox="1"/>
          <p:nvPr/>
        </p:nvSpPr>
        <p:spPr>
          <a:xfrm>
            <a:off x="8129016" y="54681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 AI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129016" y="572414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proof on every output, zero egress, one node, and it gets faster each run.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deliverables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595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ships as an offline bundle installable from removable media onto an air-gapped node.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822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 School, Vadodara  ·  Indian Army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104120" y="38404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04120" y="384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KAVACH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5532120" cy="3529584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98448"/>
            <a:ext cx="5532120" cy="457200"/>
          </a:xfrm>
          <a:prstGeom prst="roundRect">
            <a:avLst>
              <a:gd name="adj" fmla="val 18000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2984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1938528"/>
            <a:ext cx="137160" cy="13716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8992" y="18745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deployment bundle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093976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Docker Compose file, air-gap installable, no network calls at runtime.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672" y="2427732"/>
            <a:ext cx="137160" cy="13716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8992" y="236372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 orchestrator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2583180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service, oracle plugin API, four patch lanes, bandit scheduler.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4672" y="2916936"/>
            <a:ext cx="137160" cy="13716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78992" y="28529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probe library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072384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CWE classes across C/C++ and one scripting runtime, with policy files.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" y="3406140"/>
            <a:ext cx="137160" cy="13716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78992" y="33421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8B adapter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3561588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weights trained on validated ARVO fix pairs, shipped with the bundle.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4672" y="3895344"/>
            <a:ext cx="137160" cy="13716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8992" y="383133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 dashboard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4050792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time-to-patch, VRAM in use, and the run-over-run learning curve.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4672" y="4384548"/>
            <a:ext cx="137160" cy="13716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78992" y="43205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evidence bundles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4539996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Per-patch provenance ledger for signals-authority sign-off before deployment.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55080" y="1298448"/>
            <a:ext cx="5349240" cy="3529584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D6DFE8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1298448"/>
            <a:ext cx="5349240" cy="457200"/>
          </a:xfrm>
          <a:prstGeom prst="roundRect">
            <a:avLst>
              <a:gd name="adj" fmla="val 18000"/>
            </a:avLst>
          </a:prstGeom>
          <a:solidFill>
            <a:srgbClr val="FAEDE0"/>
          </a:solidFill>
          <a:ln w="12700">
            <a:solidFill>
              <a:srgbClr val="FAED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0" y="12984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35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OBJECTIVES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1856232"/>
            <a:ext cx="5074920" cy="384048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01968" y="188366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precision — findings with a reproducible PoV</a:t>
            </a:r>
            <a:endParaRPr lang="en-US" sz="960" dirty="0"/>
          </a:p>
        </p:txBody>
      </p:sp>
      <p:sp>
        <p:nvSpPr>
          <p:cNvPr id="33" name="Text 31"/>
          <p:cNvSpPr txBox="1"/>
          <p:nvPr/>
        </p:nvSpPr>
        <p:spPr>
          <a:xfrm>
            <a:off x="10378440" y="18836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601968" y="229971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validity — survives differential corpus test</a:t>
            </a:r>
            <a:endParaRPr lang="en-US" sz="960" dirty="0"/>
          </a:p>
        </p:txBody>
      </p:sp>
      <p:sp>
        <p:nvSpPr>
          <p:cNvPr id="35" name="Text 33"/>
          <p:cNvSpPr txBox="1"/>
          <p:nvPr/>
        </p:nvSpPr>
        <p:spPr>
          <a:xfrm>
            <a:off x="10378440" y="22997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2688336"/>
            <a:ext cx="5074920" cy="384048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01968" y="27157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 first proof-of-vulnerability</a:t>
            </a:r>
            <a:endParaRPr lang="en-US" sz="960" dirty="0"/>
          </a:p>
        </p:txBody>
      </p:sp>
      <p:sp>
        <p:nvSpPr>
          <p:cNvPr id="38" name="Text 36"/>
          <p:cNvSpPr txBox="1"/>
          <p:nvPr/>
        </p:nvSpPr>
        <p:spPr>
          <a:xfrm>
            <a:off x="10378440" y="27157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min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601968" y="313182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 a fully validated patch</a:t>
            </a:r>
            <a:endParaRPr lang="en-US" sz="960" dirty="0"/>
          </a:p>
        </p:txBody>
      </p:sp>
      <p:sp>
        <p:nvSpPr>
          <p:cNvPr id="40" name="Text 38"/>
          <p:cNvSpPr txBox="1"/>
          <p:nvPr/>
        </p:nvSpPr>
        <p:spPr>
          <a:xfrm>
            <a:off x="10378440" y="31318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92240" y="3520440"/>
            <a:ext cx="5074920" cy="384048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01968" y="354787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Run-2 speed-up from the four learning loops</a:t>
            </a:r>
            <a:endParaRPr lang="en-US" sz="960" dirty="0"/>
          </a:p>
        </p:txBody>
      </p:sp>
      <p:sp>
        <p:nvSpPr>
          <p:cNvPr id="43" name="Text 41"/>
          <p:cNvSpPr txBox="1"/>
          <p:nvPr/>
        </p:nvSpPr>
        <p:spPr>
          <a:xfrm>
            <a:off x="10378440" y="3547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2×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601968" y="396392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benchmark — ARVO bugs + non-crash cases</a:t>
            </a:r>
            <a:endParaRPr lang="en-US" sz="960" dirty="0"/>
          </a:p>
        </p:txBody>
      </p:sp>
      <p:sp>
        <p:nvSpPr>
          <p:cNvPr id="45" name="Text 43"/>
          <p:cNvSpPr txBox="1"/>
          <p:nvPr/>
        </p:nvSpPr>
        <p:spPr>
          <a:xfrm>
            <a:off x="10378440" y="39639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+ 5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92240" y="4352544"/>
            <a:ext cx="5074920" cy="384048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01968" y="437997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footprint, single node, no network</a:t>
            </a:r>
            <a:endParaRPr lang="en-US" sz="960" dirty="0"/>
          </a:p>
        </p:txBody>
      </p:sp>
      <p:sp>
        <p:nvSpPr>
          <p:cNvPr id="48" name="Text 46"/>
          <p:cNvSpPr txBox="1"/>
          <p:nvPr/>
        </p:nvSpPr>
        <p:spPr>
          <a:xfrm>
            <a:off x="10378440" y="43799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GB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4992624"/>
            <a:ext cx="11155680" cy="1152144"/>
          </a:xfrm>
          <a:prstGeom prst="roundRect">
            <a:avLst>
              <a:gd name="adj" fmla="val 7143"/>
            </a:avLst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0">
                <a:alpha val="18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777240" y="50840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D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DEMONSTRATION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777240" y="5358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9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autonomous, no operator input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92040" y="5138928"/>
            <a:ext cx="274320" cy="27432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892040" y="5138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5257800" y="5120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4892040" y="5486400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BCC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unseen repository with no fuzz harness, on a machine with its network interface down.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7178040" y="5138928"/>
            <a:ext cx="274320" cy="27432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178040" y="5138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7543800" y="5120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7178040" y="5486400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BCC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install oracles, synthesise a harness, find, localise, patch and prove — end to end.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9464040" y="5138928"/>
            <a:ext cx="274320" cy="27432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464040" y="5138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9829800" y="5120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Rigour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9464040" y="5486400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BCC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overfitting patch is deliberately injected and publicly rejected, then the signed bundle is issued.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RAKSHA AI - AI Kavach</dc:title>
  <dc:subject>PptxGenJS Presentation</dc:subject>
  <dc:creator>RAKSHA AI</dc:creator>
  <cp:lastModifiedBy>RAKSHA AI</cp:lastModifiedBy>
  <cp:revision>1</cp:revision>
  <dcterms:created xsi:type="dcterms:W3CDTF">2026-08-26T08:48:24Z</dcterms:created>
  <dcterms:modified xsi:type="dcterms:W3CDTF">2026-08-26T08:48:24Z</dcterms:modified>
</cp:coreProperties>
</file>